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D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600" b="1">
                <a:solidFill>
                  <a:srgbClr val="96D2F0"/>
                </a:solidFill>
                <a:latin typeface="Arial"/>
              </a:defRPr>
            </a:pPr>
            <a:r>
              <a:t>VIZSGAPROJEKT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148840"/>
            <a:ext cx="10515600" cy="91440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rial"/>
              </a:defRPr>
            </a:pPr>
            <a:r>
              <a:t>GymManager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700" b="0">
                <a:solidFill>
                  <a:srgbClr val="FFFFFF"/>
                </a:solidFill>
                <a:latin typeface="Arial"/>
              </a:defRPr>
            </a:pPr>
            <a:r>
              <a:t>Edzőterem-kezelő weboldal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03520"/>
            <a:ext cx="10058400" cy="5486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0">
                <a:solidFill>
                  <a:srgbClr val="D7E1EB"/>
                </a:solidFill>
                <a:latin typeface="Arial"/>
              </a:defRPr>
            </a:pPr>
            <a:r>
              <a:t>A vendégek és edzések egyszerű nyilvántartására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3000" b="1">
                <a:solidFill>
                  <a:srgbClr val="192D41"/>
                </a:solidFill>
                <a:latin typeface="Arial"/>
              </a:defRPr>
            </a:pPr>
            <a:r>
              <a:t>1. Mi a GymManager?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97280"/>
            <a:ext cx="914400" cy="5486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r">
              <a:defRPr sz="1100" b="0">
                <a:solidFill>
                  <a:srgbClr val="646E78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424160" cy="91440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500" b="1">
                <a:solidFill>
                  <a:srgbClr val="232323"/>
                </a:solidFill>
                <a:latin typeface="Arial"/>
              </a:defRPr>
            </a:pPr>
            <a:r>
              <a:t>A GymManager egy edzőterem számára készülő weboldal.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28600" cy="3657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100" b="1">
                <a:solidFill>
                  <a:srgbClr val="4682B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96012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100" b="0">
                <a:solidFill>
                  <a:srgbClr val="232323"/>
                </a:solidFill>
                <a:latin typeface="Arial"/>
              </a:defRPr>
            </a:pPr>
            <a:r>
              <a:t>Segít nyilvántartani a vendégeket és az edzőket.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566160"/>
            <a:ext cx="228600" cy="3657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100" b="1">
                <a:solidFill>
                  <a:srgbClr val="4682B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100" b="0">
                <a:solidFill>
                  <a:srgbClr val="232323"/>
                </a:solidFill>
                <a:latin typeface="Arial"/>
              </a:defRPr>
            </a:pPr>
            <a:r>
              <a:t>Tárolja a bérletek és az edzések adatait.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228600" cy="3657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100" b="1">
                <a:solidFill>
                  <a:srgbClr val="4682B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389120"/>
            <a:ext cx="96012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100" b="0">
                <a:solidFill>
                  <a:srgbClr val="232323"/>
                </a:solidFill>
                <a:latin typeface="Arial"/>
              </a:defRPr>
            </a:pPr>
            <a:r>
              <a:t>Egyszerűbbé teszi az edzésekre való foglalást.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987552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000" b="1">
                <a:solidFill>
                  <a:srgbClr val="4682B4"/>
                </a:solidFill>
                <a:latin typeface="Arial"/>
              </a:defRPr>
            </a:pPr>
            <a:r>
              <a:t>Célja, hogy kevesebb legyen a papírmunka.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3000" b="1">
                <a:solidFill>
                  <a:srgbClr val="192D41"/>
                </a:solidFill>
                <a:latin typeface="Arial"/>
              </a:defRPr>
            </a:pPr>
            <a:r>
              <a:t>2. Mit lehet csinálni a programban?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97280"/>
            <a:ext cx="914400" cy="5486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r">
              <a:defRPr sz="1100" b="0">
                <a:solidFill>
                  <a:srgbClr val="646E78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937760" cy="45720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400" b="1">
                <a:solidFill>
                  <a:srgbClr val="4682B4"/>
                </a:solidFill>
                <a:latin typeface="Arial"/>
              </a:defRPr>
            </a:pPr>
            <a:r>
              <a:t>Vendégek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28600" cy="3657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1">
                <a:solidFill>
                  <a:srgbClr val="4682B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466344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0">
                <a:solidFill>
                  <a:srgbClr val="232323"/>
                </a:solidFill>
                <a:latin typeface="Arial"/>
              </a:defRPr>
            </a:pPr>
            <a:r>
              <a:t>Megnézhetik az edzéseket.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228600" cy="3657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1">
                <a:solidFill>
                  <a:srgbClr val="4682B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71800"/>
            <a:ext cx="466344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0">
                <a:solidFill>
                  <a:srgbClr val="232323"/>
                </a:solidFill>
                <a:latin typeface="Arial"/>
              </a:defRPr>
            </a:pPr>
            <a:r>
              <a:t>Megnézhetik az edzőket.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228600" cy="3657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1">
                <a:solidFill>
                  <a:srgbClr val="4682B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703320"/>
            <a:ext cx="466344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0">
                <a:solidFill>
                  <a:srgbClr val="232323"/>
                </a:solidFill>
                <a:latin typeface="Arial"/>
              </a:defRPr>
            </a:pPr>
            <a:r>
              <a:t>Foglalhatnak edzésre.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508760"/>
            <a:ext cx="4937760" cy="45720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400" b="1">
                <a:solidFill>
                  <a:srgbClr val="4682B4"/>
                </a:solidFill>
                <a:latin typeface="Arial"/>
              </a:defRPr>
            </a:pPr>
            <a:r>
              <a:t>Adminisztrátor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40280"/>
            <a:ext cx="228600" cy="3657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1">
                <a:solidFill>
                  <a:srgbClr val="4682B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240280"/>
            <a:ext cx="466344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0">
                <a:solidFill>
                  <a:srgbClr val="232323"/>
                </a:solidFill>
                <a:latin typeface="Arial"/>
              </a:defRPr>
            </a:pPr>
            <a:r>
              <a:t>Új vendégeket vehet fel.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971800"/>
            <a:ext cx="228600" cy="3657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1">
                <a:solidFill>
                  <a:srgbClr val="4682B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71800"/>
            <a:ext cx="466344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0">
                <a:solidFill>
                  <a:srgbClr val="232323"/>
                </a:solidFill>
                <a:latin typeface="Arial"/>
              </a:defRPr>
            </a:pPr>
            <a:r>
              <a:t>Kezelheti az edzőket és bérleteket.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703320"/>
            <a:ext cx="228600" cy="3657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1">
                <a:solidFill>
                  <a:srgbClr val="4682B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703320"/>
            <a:ext cx="466344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0">
                <a:solidFill>
                  <a:srgbClr val="232323"/>
                </a:solidFill>
                <a:latin typeface="Arial"/>
              </a:defRPr>
            </a:pPr>
            <a:r>
              <a:t>Módosíthatja az edzések időpontjait.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10058400" cy="5486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1">
                <a:solidFill>
                  <a:srgbClr val="232323"/>
                </a:solidFill>
                <a:latin typeface="Arial"/>
              </a:defRPr>
            </a:pPr>
            <a:r>
              <a:t>A rendszer figyeli, hogy maradjon szabad hely az edzéseken.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3000" b="1">
                <a:solidFill>
                  <a:srgbClr val="192D41"/>
                </a:solidFill>
                <a:latin typeface="Arial"/>
              </a:defRPr>
            </a:pPr>
            <a:r>
              <a:t>3. Milyen programokkal készül?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97280"/>
            <a:ext cx="914400" cy="5486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r">
              <a:defRPr sz="1100" b="0">
                <a:solidFill>
                  <a:srgbClr val="646E78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657600" cy="4114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100" b="1">
                <a:solidFill>
                  <a:srgbClr val="192D41"/>
                </a:solidFill>
                <a:latin typeface="Arial"/>
              </a:defRPr>
            </a:pPr>
            <a:r>
              <a:t>HTML, CSS, 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600200"/>
            <a:ext cx="64008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0">
                <a:solidFill>
                  <a:srgbClr val="232323"/>
                </a:solidFill>
                <a:latin typeface="Arial"/>
              </a:defRPr>
            </a:pPr>
            <a:r>
              <a:t>Ezekkel készül a weboldal.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3657600" cy="4114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100" b="1">
                <a:solidFill>
                  <a:srgbClr val="192D41"/>
                </a:solidFill>
                <a:latin typeface="Arial"/>
              </a:defRPr>
            </a:pPr>
            <a:r>
              <a:t>C# és ASP.NET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606040"/>
            <a:ext cx="64008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0">
                <a:solidFill>
                  <a:srgbClr val="232323"/>
                </a:solidFill>
                <a:latin typeface="Arial"/>
              </a:defRPr>
            </a:pPr>
            <a:r>
              <a:t>Ezek kezelik a háttérben a kéréseket.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11880"/>
            <a:ext cx="3657600" cy="4114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100" b="1">
                <a:solidFill>
                  <a:srgbClr val="192D41"/>
                </a:solidFill>
                <a:latin typeface="Arial"/>
              </a:defRPr>
            </a:pPr>
            <a:r>
              <a:t>MySQL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611880"/>
            <a:ext cx="64008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0">
                <a:solidFill>
                  <a:srgbClr val="232323"/>
                </a:solidFill>
                <a:latin typeface="Arial"/>
              </a:defRPr>
            </a:pPr>
            <a:r>
              <a:t>Ebben tároljuk az adatokat.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3657600" cy="4114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100" b="1">
                <a:solidFill>
                  <a:srgbClr val="192D41"/>
                </a:solidFill>
                <a:latin typeface="Arial"/>
              </a:defRPr>
            </a:pPr>
            <a:r>
              <a:t>Bootstrap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617720"/>
            <a:ext cx="64008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0">
                <a:solidFill>
                  <a:srgbClr val="232323"/>
                </a:solidFill>
                <a:latin typeface="Arial"/>
              </a:defRPr>
            </a:pPr>
            <a:r>
              <a:t>Segít, hogy mobilon is jól nézzen ki.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15000"/>
            <a:ext cx="10058400" cy="4114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1">
                <a:solidFill>
                  <a:srgbClr val="4682B4"/>
                </a:solidFill>
                <a:latin typeface="Arial"/>
              </a:defRPr>
            </a:pPr>
            <a:r>
              <a:t>A weboldal számítógépen és telefonon is használható lesz.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3000" b="1">
                <a:solidFill>
                  <a:srgbClr val="192D41"/>
                </a:solidFill>
                <a:latin typeface="Arial"/>
              </a:defRPr>
            </a:pPr>
            <a:r>
              <a:t>4. Adatbázis és összegzés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97280"/>
            <a:ext cx="914400" cy="54864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 algn="r">
              <a:defRPr sz="1100" b="0">
                <a:solidFill>
                  <a:srgbClr val="646E78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4846320" cy="45720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300" b="1">
                <a:solidFill>
                  <a:srgbClr val="4682B4"/>
                </a:solidFill>
                <a:latin typeface="Arial"/>
              </a:defRPr>
            </a:pPr>
            <a:r>
              <a:t>Az adatbázis tárolja: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28600" cy="3657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1">
                <a:solidFill>
                  <a:srgbClr val="4682B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148840"/>
            <a:ext cx="384048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0">
                <a:solidFill>
                  <a:srgbClr val="232323"/>
                </a:solidFill>
                <a:latin typeface="Arial"/>
              </a:defRPr>
            </a:pPr>
            <a:r>
              <a:t>Vendégek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28600" cy="3657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1">
                <a:solidFill>
                  <a:srgbClr val="4682B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51760"/>
            <a:ext cx="384048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0">
                <a:solidFill>
                  <a:srgbClr val="232323"/>
                </a:solidFill>
                <a:latin typeface="Arial"/>
              </a:defRPr>
            </a:pPr>
            <a:r>
              <a:t>Edzők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228600" cy="3657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1">
                <a:solidFill>
                  <a:srgbClr val="4682B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54680"/>
            <a:ext cx="384048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0">
                <a:solidFill>
                  <a:srgbClr val="232323"/>
                </a:solidFill>
                <a:latin typeface="Arial"/>
              </a:defRPr>
            </a:pPr>
            <a:r>
              <a:t>Bérletek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57600"/>
            <a:ext cx="228600" cy="3657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1">
                <a:solidFill>
                  <a:srgbClr val="4682B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657600"/>
            <a:ext cx="384048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0">
                <a:solidFill>
                  <a:srgbClr val="232323"/>
                </a:solidFill>
                <a:latin typeface="Arial"/>
              </a:defRPr>
            </a:pPr>
            <a:r>
              <a:t>Edzések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228600" cy="3657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1">
                <a:solidFill>
                  <a:srgbClr val="4682B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160520"/>
            <a:ext cx="384048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0">
                <a:solidFill>
                  <a:srgbClr val="232323"/>
                </a:solidFill>
                <a:latin typeface="Arial"/>
              </a:defRPr>
            </a:pPr>
            <a:r>
              <a:t>Foglalások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508760"/>
            <a:ext cx="5029200" cy="45720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300" b="1">
                <a:solidFill>
                  <a:srgbClr val="4682B4"/>
                </a:solidFill>
                <a:latin typeface="Arial"/>
              </a:defRPr>
            </a:pPr>
            <a:r>
              <a:t>Miért hasznos?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240280"/>
            <a:ext cx="228600" cy="3657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1">
                <a:solidFill>
                  <a:srgbClr val="4682B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240280"/>
            <a:ext cx="45720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0">
                <a:solidFill>
                  <a:srgbClr val="232323"/>
                </a:solidFill>
                <a:latin typeface="Arial"/>
              </a:defRPr>
            </a:pPr>
            <a:r>
              <a:t>Minden adat egy helyen van.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063240"/>
            <a:ext cx="228600" cy="3657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1">
                <a:solidFill>
                  <a:srgbClr val="4682B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3063240"/>
            <a:ext cx="45720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0">
                <a:solidFill>
                  <a:srgbClr val="232323"/>
                </a:solidFill>
                <a:latin typeface="Arial"/>
              </a:defRPr>
            </a:pPr>
            <a:r>
              <a:t>Könnyebb kezelni a foglalásokat.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886200"/>
            <a:ext cx="228600" cy="3657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1">
                <a:solidFill>
                  <a:srgbClr val="4682B4"/>
                </a:solidFill>
                <a:latin typeface="Arial"/>
              </a:defRPr>
            </a:pPr>
            <a: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886200"/>
            <a:ext cx="45720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900" b="0">
                <a:solidFill>
                  <a:srgbClr val="232323"/>
                </a:solidFill>
                <a:latin typeface="Arial"/>
              </a:defRPr>
            </a:pPr>
            <a:r>
              <a:t>Kevesebb az adminisztráció.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86400"/>
            <a:ext cx="10515600" cy="5486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100" b="1">
                <a:solidFill>
                  <a:srgbClr val="192D41"/>
                </a:solidFill>
                <a:latin typeface="Arial"/>
              </a:defRPr>
            </a:pPr>
            <a:r>
              <a:t>A cél egy egyszerű, átlátható és könnyen használható rendszer.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